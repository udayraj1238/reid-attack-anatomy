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371600" y="1097280"/>
            <a:ext cx="9448495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1645920"/>
            <a:ext cx="8534095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8FAFC"/>
                </a:solidFill>
              </a:defRPr>
            </a:pPr>
            <a:r>
              <a:t>Anatomy of an Attack on Person Re-Identification</a:t>
            </a:r>
          </a:p>
          <a:p>
            <a:pPr>
              <a:defRPr sz="2000" b="1">
                <a:solidFill>
                  <a:srgbClr val="38BDF8"/>
                </a:solidFill>
              </a:defRPr>
            </a:pPr>
            <a:r>
              <a:t>(+ An EOT Universal Invisibility Torso Patch &amp; Adversarial Defense)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931920"/>
            <a:ext cx="85340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Deep Learning Project • Empirical Benchmark on Market-1501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Architectures: ResNet-50 (BoT), DenseNet-121, ViT-Small/16 | 100% Empirically Measured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RE-ID ADVERSARIAL ANATOMY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Why Re-ID Security Differs from Standard Classification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4572000" cy="3931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38BDF8"/>
                </a:solidFill>
              </a:defRPr>
            </a:pPr>
            <a:r>
              <a:t>Open-Set Ranking vs Fixed Labels</a:t>
            </a:r>
          </a:p>
          <a:p>
            <a:pPr>
              <a:spcBef>
                <a:spcPts val="1000"/>
              </a:spcBef>
              <a:defRPr sz="1300">
                <a:solidFill>
                  <a:srgbClr val="F8FAFC"/>
                </a:solidFill>
              </a:defRPr>
            </a:pPr>
            <a:r>
              <a:t>• Closed-Set Classification: Predicts 1 of N known training classes using softmax logits.</a:t>
            </a:r>
          </a:p>
          <a:p>
            <a:pPr>
              <a:spcBef>
                <a:spcPts val="1000"/>
              </a:spcBef>
              <a:defRPr sz="1300">
                <a:solidFill>
                  <a:srgbClr val="F8FAFC"/>
                </a:solidFill>
              </a:defRPr>
            </a:pPr>
            <a:r>
              <a:t>• Person Re-ID: Queries and gallery belong to unseen identities across non-overlapping surveillance cameras.</a:t>
            </a:r>
          </a:p>
          <a:p>
            <a:pPr>
              <a:spcBef>
                <a:spcPts val="1000"/>
              </a:spcBef>
              <a:defRPr sz="1300">
                <a:solidFill>
                  <a:srgbClr val="F8FAFC"/>
                </a:solidFill>
              </a:defRPr>
            </a:pPr>
            <a:r>
              <a:t>• Scoring Metric: Evaluated on gallery distance ranking (Rank-1, Rank-5, mAP), not class accuracy.</a:t>
            </a:r>
          </a:p>
          <a:p>
            <a:pPr>
              <a:spcBef>
                <a:spcPts val="1000"/>
              </a:spcBef>
              <a:defRPr sz="1300">
                <a:solidFill>
                  <a:srgbClr val="F8FAFC"/>
                </a:solidFill>
              </a:defRPr>
            </a:pPr>
            <a:r>
              <a:t>• Silent Retrieval Failure: An attacker doesn't need to force a label—simply degrading Rank-1 displaces true matches out of the top-k results.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645920"/>
            <a:ext cx="512064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828800"/>
            <a:ext cx="4572000" cy="3931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818CF8"/>
                </a:solidFill>
              </a:defRPr>
            </a:pPr>
            <a:r>
              <a:t>Core Research Questions We Answer</a:t>
            </a:r>
          </a:p>
          <a:p>
            <a:pPr>
              <a:spcBef>
                <a:spcPts val="1000"/>
              </a:spcBef>
              <a:defRPr sz="1300">
                <a:solidFill>
                  <a:srgbClr val="F8FAFC"/>
                </a:solidFill>
              </a:defRPr>
            </a:pPr>
            <a:r>
              <a:t>1. Embedding vs Logit Attacks: Does directly pushing embeddings in metric space outperform classical classification-head attacks?</a:t>
            </a:r>
          </a:p>
          <a:p>
            <a:pPr>
              <a:spcBef>
                <a:spcPts val="1000"/>
              </a:spcBef>
              <a:defRPr sz="1300">
                <a:solidFill>
                  <a:srgbClr val="F8FAFC"/>
                </a:solidFill>
              </a:defRPr>
            </a:pPr>
            <a:r>
              <a:t>2. Cross-Architecture Transfer: Do adversarial directions crafted on CNNs transfer to other CNNs and Vision Transformers?</a:t>
            </a:r>
          </a:p>
          <a:p>
            <a:pPr>
              <a:spcBef>
                <a:spcPts val="1000"/>
              </a:spcBef>
              <a:defRPr sz="1300">
                <a:solidFill>
                  <a:srgbClr val="F8FAFC"/>
                </a:solidFill>
              </a:defRPr>
            </a:pPr>
            <a:r>
              <a:t>3. Universal Physical Feasibility: Can a single fixed torso patch fool multiple architectures without per-image optimization?</a:t>
            </a:r>
          </a:p>
          <a:p>
            <a:pPr>
              <a:spcBef>
                <a:spcPts val="1000"/>
              </a:spcBef>
              <a:defRPr sz="1300">
                <a:solidFill>
                  <a:srgbClr val="F8FAFC"/>
                </a:solidFill>
              </a:defRPr>
            </a:pPr>
            <a:r>
              <a:t>4. Adversarial Training Cost: What is the exact clean accuracy trade-off when hardening Re-ID with PGD adversarial training?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RE-ID ADVERSARIAL ANATOMY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Victim Models: Architecture &amp; Clean Performance (Market-1501)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645920"/>
          <a:ext cx="1069848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1645920"/>
                <a:gridCol w="1645920"/>
                <a:gridCol w="1645920"/>
                <a:gridCol w="1645920"/>
                <a:gridCol w="1737360"/>
              </a:tblGrid>
              <a:tr h="54864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8BDF8"/>
                          </a:solidFill>
                        </a:defRPr>
                      </a:pPr>
                      <a:r>
                        <a:t>Architecture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8BDF8"/>
                          </a:solidFill>
                        </a:defRPr>
                      </a:pPr>
                      <a:r>
                        <a:t>Parameters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8BDF8"/>
                          </a:solidFill>
                        </a:defRPr>
                      </a:pPr>
                      <a:r>
                        <a:t>Rank-1 (%)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8BDF8"/>
                          </a:solidFill>
                        </a:defRPr>
                      </a:pPr>
                      <a:r>
                        <a:t>Rank-5 (%)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8BDF8"/>
                          </a:solidFill>
                        </a:defRPr>
                      </a:pPr>
                      <a:r>
                        <a:t>Rank-10 (%)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8BDF8"/>
                          </a:solidFill>
                        </a:defRPr>
                      </a:pPr>
                      <a:r>
                        <a:t>mAP (%)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8FAFC"/>
                          </a:solidFill>
                        </a:defRPr>
                      </a:pPr>
                      <a:r>
                        <a:t>ResNet-50 (BoT / BNNeck)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8FAFC"/>
                          </a:solidFill>
                        </a:defRPr>
                      </a:pPr>
                      <a:r>
                        <a:t>25.1 M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8FAFC"/>
                          </a:solidFill>
                        </a:defRPr>
                      </a:pPr>
                      <a:r>
                        <a:t>86.97 %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8FAFC"/>
                          </a:solidFill>
                        </a:defRPr>
                      </a:pPr>
                      <a:r>
                        <a:t>95.40 %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8FAFC"/>
                          </a:solidFill>
                        </a:defRPr>
                      </a:pPr>
                      <a:r>
                        <a:t>97.36 %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8FAFC"/>
                          </a:solidFill>
                        </a:defRPr>
                      </a:pPr>
                      <a:r>
                        <a:t>70.64 %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8FAFC"/>
                          </a:solidFill>
                        </a:defRPr>
                      </a:pPr>
                      <a:r>
                        <a:t>DenseNet-121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8FAFC"/>
                          </a:solidFill>
                        </a:defRPr>
                      </a:pPr>
                      <a:r>
                        <a:t>7.7 M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8FAFC"/>
                          </a:solidFill>
                        </a:defRPr>
                      </a:pPr>
                      <a:r>
                        <a:t>77.35 %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8FAFC"/>
                          </a:solidFill>
                        </a:defRPr>
                      </a:pPr>
                      <a:r>
                        <a:t>91.95 %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8FAFC"/>
                          </a:solidFill>
                        </a:defRPr>
                      </a:pPr>
                      <a:r>
                        <a:t>95.07 %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8FAFC"/>
                          </a:solidFill>
                        </a:defRPr>
                      </a:pPr>
                      <a:r>
                        <a:t>56.63 %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8FAFC"/>
                          </a:solidFill>
                        </a:defRPr>
                      </a:pPr>
                      <a:r>
                        <a:t>ViT-Small / 16 (DeiT)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8FAFC"/>
                          </a:solidFill>
                        </a:defRPr>
                      </a:pPr>
                      <a:r>
                        <a:t>21.9 M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8FAFC"/>
                          </a:solidFill>
                        </a:defRPr>
                      </a:pPr>
                      <a:r>
                        <a:t>91.75 %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8FAFC"/>
                          </a:solidFill>
                        </a:defRPr>
                      </a:pPr>
                      <a:r>
                        <a:t>96.67 %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8FAFC"/>
                          </a:solidFill>
                        </a:defRPr>
                      </a:pPr>
                      <a:r>
                        <a:t>98.01 %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8FAFC"/>
                          </a:solidFill>
                        </a:defRPr>
                      </a:pPr>
                      <a:r>
                        <a:t>79.69 %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31520" y="4206240"/>
            <a:ext cx="10698480" cy="1920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4297680"/>
            <a:ext cx="10149840" cy="1737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38BDF8"/>
                </a:solidFill>
              </a:defRPr>
            </a:pPr>
            <a:r>
              <a:t>Standard Training Recipe &amp; Protocol Constraints</a:t>
            </a:r>
          </a:p>
          <a:p>
            <a:pPr>
              <a:spcBef>
                <a:spcPts val="400"/>
              </a:spcBef>
              <a:defRPr sz="1200">
                <a:solidFill>
                  <a:srgbClr val="F8FAFC"/>
                </a:solidFill>
              </a:defRPr>
            </a:pPr>
            <a:r>
              <a:t>• Initialization: All backbones use ImageNet-1K pretrained weights fine-tuned on Market-1501 (12,936 training images, 751 identities).</a:t>
            </a:r>
          </a:p>
          <a:p>
            <a:pPr>
              <a:spcBef>
                <a:spcPts val="400"/>
              </a:spcBef>
              <a:defRPr sz="1200">
                <a:solidFill>
                  <a:srgbClr val="F8FAFC"/>
                </a:solidFill>
              </a:defRPr>
            </a:pPr>
            <a:r>
              <a:t>• Loss Formulation: Joint ID cross-entropy loss + Batch-Hard Triplet loss with margin m = 0.3 (PK sampler: P=16 identities, K=4 instances).</a:t>
            </a:r>
          </a:p>
          <a:p>
            <a:pPr>
              <a:spcBef>
                <a:spcPts val="400"/>
              </a:spcBef>
              <a:defRPr sz="1200">
                <a:solidFill>
                  <a:srgbClr val="F8FAFC"/>
                </a:solidFill>
              </a:defRPr>
            </a:pPr>
            <a:r>
              <a:t>• BNNeck Head: Batch normalization layer separates metric embedding f (normalized for cosine ranking) from classification logits.</a:t>
            </a:r>
          </a:p>
          <a:p>
            <a:pPr>
              <a:spcBef>
                <a:spcPts val="400"/>
              </a:spcBef>
              <a:defRPr sz="1200">
                <a:solidFill>
                  <a:srgbClr val="F8FAFC"/>
                </a:solidFill>
              </a:defRPr>
            </a:pPr>
            <a:r>
              <a:t>• Market-1501 Protocol: Evaluated on 3,368 queries vs 15,913 gallery targets across 6 cameras. Junk rule strictly enforced (same PID + camera ignored).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RE-ID ADVERSARIAL ANATOMY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Threat Model &amp; Objective Formulations in Metric Space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301752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Evasion Objective</a:t>
            </a:r>
          </a:p>
          <a:p>
            <a:pPr>
              <a:spcBef>
                <a:spcPts val="1200"/>
              </a:spcBef>
              <a:defRPr sz="1200" b="1">
                <a:solidFill>
                  <a:srgbClr val="F8FAFC"/>
                </a:solidFill>
              </a:defRPr>
            </a:pPr>
            <a:r>
              <a:t>L_evade = - ( f(x_adv) · f(x) )</a:t>
            </a:r>
          </a:p>
          <a:p>
            <a:pPr>
              <a:spcBef>
                <a:spcPts val="1000"/>
              </a:spcBef>
              <a:defRPr sz="1200">
                <a:solidFill>
                  <a:srgbClr val="94A3B8"/>
                </a:solidFill>
              </a:defRPr>
            </a:pPr>
            <a:r>
              <a:t>Pushes the adversarial embedding as far away from its clean representation as possible.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</a:defRPr>
            </a:pPr>
            <a:r>
              <a:t>Minimizes cosine similarity between perturbed and clean feature vectors. Forces true matches out of the top gallery ranks.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3832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828800"/>
            <a:ext cx="301752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818CF8"/>
                </a:solidFill>
              </a:defRPr>
            </a:pPr>
            <a:r>
              <a:t>Impersonation Objective</a:t>
            </a:r>
          </a:p>
          <a:p>
            <a:pPr>
              <a:spcBef>
                <a:spcPts val="1200"/>
              </a:spcBef>
              <a:defRPr sz="1200" b="1">
                <a:solidFill>
                  <a:srgbClr val="F8FAFC"/>
                </a:solidFill>
              </a:defRPr>
            </a:pPr>
            <a:r>
              <a:t>L_impersonate = + ( f(x_adv) · e_target )</a:t>
            </a:r>
          </a:p>
          <a:p>
            <a:pPr>
              <a:spcBef>
                <a:spcPts val="1000"/>
              </a:spcBef>
              <a:defRPr sz="1200">
                <a:solidFill>
                  <a:srgbClr val="94A3B8"/>
                </a:solidFill>
              </a:defRPr>
            </a:pPr>
            <a:r>
              <a:t>Pulls the query embedding towards the centroid embedding of an unauthorized identity.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</a:defRPr>
            </a:pPr>
            <a:r>
              <a:t>Maximizes cosine similarity to target centroid. Measured by Hit@1: target identity returned as Rank-1 match.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828800"/>
            <a:ext cx="301752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94A3B8"/>
                </a:solidFill>
              </a:defRPr>
            </a:pPr>
            <a:r>
              <a:t>Classification Logit Baseline</a:t>
            </a:r>
          </a:p>
          <a:p>
            <a:pPr>
              <a:spcBef>
                <a:spcPts val="1200"/>
              </a:spcBef>
              <a:defRPr sz="1200" b="1">
                <a:solidFill>
                  <a:srgbClr val="F8FAFC"/>
                </a:solidFill>
              </a:defRPr>
            </a:pPr>
            <a:r>
              <a:t>L_logit = CrossEntropy( W · f(x_adv), y_true )</a:t>
            </a:r>
          </a:p>
          <a:p>
            <a:pPr>
              <a:spcBef>
                <a:spcPts val="1000"/>
              </a:spcBef>
              <a:defRPr sz="1200">
                <a:solidFill>
                  <a:srgbClr val="94A3B8"/>
                </a:solidFill>
              </a:defRPr>
            </a:pPr>
            <a:r>
              <a:t>Standard adversarial classification attack on the training ID-classifier head.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</a:defRPr>
            </a:pPr>
            <a:r>
              <a:t>Maximizes cross-entropy loss on training classes. Used to test whether classification attacks suffice for open-set Re-ID.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RE-ID ADVERSARIAL ANATOMY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White-Box Evasion: Rank-1 Collapses to 0.0% at eps = 8/255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4572000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20624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38BDF8"/>
                </a:solidFill>
              </a:defRPr>
            </a:pPr>
            <a:r>
              <a:t>Epsilon Degradation (ResNet-50)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Clean Baseline: 86.97 % Rank-1 | 70.64 % mAP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FGSM (1-step eps=8): Drops to 39.58 % Rank-1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PGD-10 (eps=8): Complete collapse to 0.00 % Rank-1 (0.05 % mAP)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MI-FGSM (eps=8): Complete collapse to 0.00 % Rank-1 (0.05 % mAP)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Logit-PGD (eps=8): 0.30 % Rank-1 (Embedding PGD is strictly stronger)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Even at eps = 2/255 (barely perceptible): PGD drives Rank-1 to 0.12 %!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577840" y="1645920"/>
            <a:ext cx="5852160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eps_degradation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828800"/>
            <a:ext cx="5486400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RE-ID ADVERSARIAL ANATOMY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Visualizing Failure: Retrieval Before/After &amp; Attention Drift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0233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retrieval_before_af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4754880" cy="3657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5760720"/>
            <a:ext cx="51206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Query Retrieval Ranking: Clean top-5 matches true ID; under PGD, true match drops entirely from top results.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645920"/>
            <a:ext cx="5120640" cy="40233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gradcam_analysi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1828800"/>
            <a:ext cx="4754880" cy="36576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09360" y="5760720"/>
            <a:ext cx="51206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Grad-CAM Feature Saliency: Gradient perturbations shift network focus away from person torso to background clutter.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RE-ID ADVERSARIAL ANATOMY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Cross-Architecture Transfer Matrix: Asymmetry Between CNNs &amp; ViT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486400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transfer_matrix_pgd_eps8_rank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5120640" cy="42062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492240" y="1645920"/>
            <a:ext cx="4937760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1828800"/>
            <a:ext cx="457200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38BDF8"/>
                </a:solidFill>
              </a:defRPr>
            </a:pPr>
            <a:r>
              <a:t>Key Empirical Transfer Observations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White-Box vs Black-Box: Mean Rank-1 is 0.0 % white-box vs 61.04 % under black-box PGD transfer.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CNN-to-CNN Transfer: Attacks transfer moderately between CNN architectures: ResNet-50 PGD drops DenseNet-121 from 77.35 % to 30.46 % (MI-FGSM to 17.81 %).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CNN-to-ViT Resistance: Perturbations crafted on ResNet-50 or DenseNet-121 barely hurt ViT-Small (Rank-1 remains 88.15 % and 88.66 % vs 91.75 % clean).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Hypothesis: Local convolutional receptive fields share inductive bias, whereas ViT's global self-attention produces divergent gradient landscapes.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MI-FGSM Advantage: Momentum smooths gradient oscillations and reduces mean black-box Rank-1 from 61.04 % (PGD) to 50.64 %.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RE-ID ADVERSARIAL ANATOMY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Universal Torso Patch: One Printable Pattern Evades Retrieval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36576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patch_examp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737360"/>
            <a:ext cx="4754880" cy="33832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126480" y="1645920"/>
            <a:ext cx="5303520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0" y="1828800"/>
            <a:ext cx="493776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38BDF8"/>
                </a:solidFill>
              </a:defRPr>
            </a:pPr>
            <a:r>
              <a:t>Torso Patch Performance on ResNet-50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Control Experiment (Random Noise Patch): Leaves Rank-1 at 73.19 % (Rank-1 drop is only 13.78 % due to occlusion).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Trained Universal Patch (64x48): Collapses Rank-1 to 2.67 % (mAP 3.29 %) — an 84.30 % absolute drop!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EOT Robustness: Under random testing scale, rotation, translation, and noise, Rank-1 remains crushed at 2.73 %.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Cross-Model Transfer: The patch trained only on ResNet-50 drops DenseNet-121 Rank-1 to 13.63 % without retraining.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EOT Training Objective: Minimizes cosine similarity to clean features over 40 epochs with TV smoothness regularization.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486400"/>
            <a:ext cx="5120640" cy="9144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5532120"/>
            <a:ext cx="49377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Trained on 40 epochs with Total Variation (TV) loss to prevent high-frequency noise and ensure physical printability.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RE-ID ADVERSARIAL ANATOMY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Defense Benchmark: Adversarial Training Trade-Off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486400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efense_tradeo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5120640" cy="42062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492240" y="1645920"/>
            <a:ext cx="4937760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1828800"/>
            <a:ext cx="457200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38BDF8"/>
                </a:solidFill>
              </a:defRPr>
            </a:pPr>
            <a:r>
              <a:t>Empirical Defense Evaluation (ResNet-50)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White-Box Robustness Gain: Robust Rank-1 rises from 0.00 % (standard model) to 29.19 % (robust model) under white-box PGD-10.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Clean Accuracy Trade-off: Clean Rank-1 drops from 86.97 % to 74.52 % (a 12.45 % penalty), consistent with classical robust classification trade-offs.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Black-Box Protection: When attacked by perturbations from the standard ResNet-50, the adversarially trained model retains 72.39 % Rank-1 (mAP 49.96 %).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Caveat on Evaluation: The defense was trained against PGD-5 and evaluated against PGD-10; adaptive attacks (e.g. PGD-50) would likely erode robustness further.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RE-ID ADVERSARIAL ANATOMY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Summary, Limitations &amp; Future Directions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75488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34D399"/>
                </a:solidFill>
              </a:defRPr>
            </a:pPr>
            <a:r>
              <a:t>Core Takeaways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✔ Re-ID is uniquely vulnerable: Gradient evasion attacks drive Rank-1 retrieval to 0.00 % without requiring classification label access.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✔ Architecture Matters: ViTs exhibit substantial intrinsic resistance to CNN-crafted transfer attacks (maintaining &gt;88 % Rank-1).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✔ Physical Feasibility: A single 64x48 torso patch trained with EOT effectively blinds surveillance models (Rank-1 86.97 % -&gt; 2.67 %).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✔ Defense Reality: Adversarial training restores robust Rank-1 to 29.19 % but incurs a 12.45 % clean retrieval penalty.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645920"/>
            <a:ext cx="5120640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828800"/>
            <a:ext cx="475488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87171"/>
                </a:solidFill>
              </a:defRPr>
            </a:pPr>
            <a:r>
              <a:t>Scientific Transparency &amp; Limitations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Backbones Pretrained: Backbones use ImageNet-1K pretrained weights fine-tuned on Market-1501, not trained from scratch.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Epoch Definition: One 'epoch' represents one pass over 751 identities (4 images each), approximately 23 % of total dataset images.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Digital-Only Patch: Torso patch was evaluated via digital transformation overlay; physical printing on clothing was not experimentally validated.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Single Seed Evaluation: Experiments conducted with fixed seed (seed=0); multi-seed confidence intervals remain future work.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Adaptive Attacks: Defense evaluated on PGD-10; advanced AutoAttack/PGD-50 evaluations are needed for definitive robustness bounds.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